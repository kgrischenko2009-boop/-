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</p:sldIdLst>
  <p:sldSz cx="18288000" cy="10287000"/>
  <p:notesSz cx="6858000" cy="9144000"/>
  <p:embeddedFontLst>
    <p:embeddedFont>
      <p:font typeface="Calibri" pitchFamily="34" charset="0"/>
      <p:regular r:id="rId11"/>
      <p:bold r:id="rId12"/>
      <p:italic r:id="rId13"/>
      <p:boldItalic r:id="rId14"/>
    </p:embeddedFont>
    <p:embeddedFont>
      <p:font typeface="Farabee" pitchFamily="2" charset="0"/>
      <p:bold r:id="rId15"/>
    </p:embeddedFont>
    <p:embeddedFont>
      <p:font typeface="Georgia Pro Bold" charset="0"/>
      <p:regular r:id="rId16"/>
    </p:embeddedFont>
    <p:embeddedFont>
      <p:font typeface="Farabee Straight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-1104" y="-4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444" b="-84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00342" y="-9190"/>
            <a:ext cx="13887658" cy="10287000"/>
            <a:chOff x="0" y="0"/>
            <a:chExt cx="365765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655" cy="2709333"/>
            </a:xfrm>
            <a:custGeom>
              <a:avLst/>
              <a:gdLst/>
              <a:ahLst/>
              <a:cxnLst/>
              <a:rect l="l" t="t" r="r" b="b"/>
              <a:pathLst>
                <a:path w="3657655" h="2709333">
                  <a:moveTo>
                    <a:pt x="0" y="0"/>
                  </a:moveTo>
                  <a:lnTo>
                    <a:pt x="3657655" y="0"/>
                  </a:lnTo>
                  <a:lnTo>
                    <a:pt x="365765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274D">
                    <a:alpha val="0"/>
                  </a:srgbClr>
                </a:gs>
                <a:gs pos="100000">
                  <a:srgbClr val="0027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5765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440" y="7143764"/>
            <a:ext cx="5214974" cy="3766994"/>
            <a:chOff x="0" y="0"/>
            <a:chExt cx="888004" cy="1943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8004" cy="194369"/>
            </a:xfrm>
            <a:custGeom>
              <a:avLst/>
              <a:gdLst/>
              <a:ahLst/>
              <a:cxnLst/>
              <a:rect l="l" t="t" r="r" b="b"/>
              <a:pathLst>
                <a:path w="888004" h="194369">
                  <a:moveTo>
                    <a:pt x="0" y="0"/>
                  </a:moveTo>
                  <a:lnTo>
                    <a:pt x="888004" y="0"/>
                  </a:lnTo>
                  <a:lnTo>
                    <a:pt x="888004" y="194369"/>
                  </a:lnTo>
                  <a:lnTo>
                    <a:pt x="0" y="194369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88004" cy="232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857324" y="3571864"/>
            <a:ext cx="15644922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spcBef>
                <a:spcPct val="0"/>
              </a:spcBef>
            </a:pPr>
            <a:r>
              <a:rPr lang="ru-RU" sz="9600" b="1" dirty="0" smtClean="0">
                <a:solidFill>
                  <a:srgbClr val="FFFFFF"/>
                </a:solidFill>
                <a:latin typeface="Farabee" pitchFamily="2" charset="0"/>
                <a:ea typeface="Georgia Pro Bold"/>
                <a:cs typeface="Georgia Pro Bold"/>
                <a:sym typeface="Georgia Pro Bold"/>
              </a:rPr>
              <a:t>Разработка сайта по видам творчества</a:t>
            </a:r>
            <a:endParaRPr lang="en-US" sz="9600" b="1" dirty="0">
              <a:solidFill>
                <a:srgbClr val="FFFFFF"/>
              </a:solidFill>
              <a:latin typeface="Farabee" pitchFamily="2" charset="0"/>
              <a:ea typeface="Georgia Pro Bold"/>
              <a:cs typeface="Georgia Pro Bold"/>
              <a:sym typeface="Georgia Pro Bold"/>
            </a:endParaRPr>
          </a:p>
        </p:txBody>
      </p:sp>
      <p:pic>
        <p:nvPicPr>
          <p:cNvPr id="18" name="Рисунок 17" descr="Logotip-na-russkom-yazyke.png"/>
          <p:cNvPicPr>
            <a:picLocks noChangeAspect="1"/>
          </p:cNvPicPr>
          <p:nvPr/>
        </p:nvPicPr>
        <p:blipFill>
          <a:blip r:embed="rId3"/>
          <a:srcRect l="77735" t="47357" r="6640"/>
          <a:stretch>
            <a:fillRect/>
          </a:stretch>
        </p:blipFill>
        <p:spPr>
          <a:xfrm>
            <a:off x="285688" y="-571540"/>
            <a:ext cx="2857520" cy="4367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0" y="285716"/>
            <a:ext cx="1828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образовательное бюджетное учреждение</a:t>
            </a:r>
            <a:b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b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«ФИНАНСОВЫЙ УНИВЕРСИТЕТ ПРИ ПРАВИТЕЛЬСТВЕ </a:t>
            </a:r>
            <a:b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РОССИЙСКОЙ ФЕДЕРАЦИИ»</a:t>
            </a:r>
            <a:b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(Финансовый университет)</a:t>
            </a:r>
            <a:b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Колледж информатики и программирования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4316" y="7358078"/>
            <a:ext cx="48577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Farabee" pitchFamily="2" charset="0"/>
                <a:cs typeface="Times New Roman" panose="02020603050405020304" pitchFamily="18" charset="0"/>
              </a:rPr>
              <a:t>Выполнила:</a:t>
            </a:r>
          </a:p>
          <a:p>
            <a:r>
              <a:rPr lang="ru-RU" sz="2800" dirty="0" smtClean="0">
                <a:latin typeface="Farabee" pitchFamily="2" charset="0"/>
                <a:cs typeface="Times New Roman" panose="02020603050405020304" pitchFamily="18" charset="0"/>
              </a:rPr>
              <a:t>Грищенко Е. А., студентка группы 1ИСИП-525</a:t>
            </a:r>
          </a:p>
          <a:p>
            <a:r>
              <a:rPr lang="ru-RU" sz="2800" dirty="0" smtClean="0">
                <a:latin typeface="Farabee" pitchFamily="2" charset="0"/>
                <a:cs typeface="Times New Roman" panose="02020603050405020304" pitchFamily="18" charset="0"/>
              </a:rPr>
              <a:t>Проверила:</a:t>
            </a:r>
          </a:p>
          <a:p>
            <a:r>
              <a:rPr lang="ru-RU" sz="2800" dirty="0" err="1" smtClean="0">
                <a:latin typeface="Farabee" pitchFamily="2" charset="0"/>
                <a:cs typeface="Times New Roman" panose="02020603050405020304" pitchFamily="18" charset="0"/>
              </a:rPr>
              <a:t>Глоба</a:t>
            </a:r>
            <a:r>
              <a:rPr lang="ru-RU" sz="2800" dirty="0" smtClean="0">
                <a:latin typeface="Farabee" pitchFamily="2" charset="0"/>
                <a:cs typeface="Times New Roman" panose="02020603050405020304" pitchFamily="18" charset="0"/>
              </a:rPr>
              <a:t> Е. П.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6516967" y="0"/>
            <a:ext cx="1771033" cy="10287000"/>
            <a:chOff x="0" y="0"/>
            <a:chExt cx="46644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6445" cy="2709333"/>
            </a:xfrm>
            <a:custGeom>
              <a:avLst/>
              <a:gdLst/>
              <a:ahLst/>
              <a:cxnLst/>
              <a:rect l="l" t="t" r="r" b="b"/>
              <a:pathLst>
                <a:path w="466445" h="2709333">
                  <a:moveTo>
                    <a:pt x="0" y="0"/>
                  </a:moveTo>
                  <a:lnTo>
                    <a:pt x="466445" y="0"/>
                  </a:lnTo>
                  <a:lnTo>
                    <a:pt x="46644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6644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4786310"/>
            <a:ext cx="12215834" cy="5500691"/>
            <a:chOff x="0" y="0"/>
            <a:chExt cx="3005750" cy="12596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05750" cy="1259680"/>
            </a:xfrm>
            <a:custGeom>
              <a:avLst/>
              <a:gdLst/>
              <a:ahLst/>
              <a:cxnLst/>
              <a:rect l="l" t="t" r="r" b="b"/>
              <a:pathLst>
                <a:path w="3005750" h="1259680">
                  <a:moveTo>
                    <a:pt x="0" y="0"/>
                  </a:moveTo>
                  <a:lnTo>
                    <a:pt x="3005750" y="0"/>
                  </a:lnTo>
                  <a:lnTo>
                    <a:pt x="3005750" y="1259680"/>
                  </a:lnTo>
                  <a:lnTo>
                    <a:pt x="0" y="1259680"/>
                  </a:lnTo>
                  <a:close/>
                </a:path>
              </a:pathLst>
            </a:custGeom>
            <a:solidFill>
              <a:srgbClr val="00274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05750" cy="1297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714316" y="357154"/>
            <a:ext cx="155734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latin typeface="Farabee" pitchFamily="2" charset="0"/>
              </a:rPr>
              <a:t>Актуальность темы исследования</a:t>
            </a:r>
            <a:endParaRPr lang="ru-RU" sz="6600" dirty="0">
              <a:latin typeface="Farabee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4316" y="1643038"/>
            <a:ext cx="1178727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atin typeface="Farabee Straight" pitchFamily="2" charset="0"/>
              </a:rPr>
              <a:t>Творчество всё чаще становится частью повседневной жизни, особенно в сфере подарков. Однако многие не знают, с чего начать: информация разбросана по разным источникам, а удобного ресурса не существует. </a:t>
            </a:r>
            <a:endParaRPr lang="ru-RU" sz="3200" dirty="0">
              <a:latin typeface="Farabee Straight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8630" y="5035636"/>
            <a:ext cx="104299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solidFill>
                  <a:schemeClr val="bg1"/>
                </a:solidFill>
                <a:latin typeface="Farabee" pitchFamily="2" charset="0"/>
              </a:rPr>
              <a:t>Цели проекта</a:t>
            </a:r>
            <a:endParaRPr lang="ru-RU" sz="6600" dirty="0">
              <a:solidFill>
                <a:schemeClr val="bg1"/>
              </a:solidFill>
              <a:latin typeface="Farabee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8630" y="6367545"/>
            <a:ext cx="81439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Разработать сайт, который поможет легко находить необходимые материалы и инструменты для разных видов творчества.</a:t>
            </a:r>
            <a:endParaRPr lang="ru-RU" sz="3200" dirty="0">
              <a:solidFill>
                <a:schemeClr val="bg1"/>
              </a:solidFill>
              <a:latin typeface="Farabee Straight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357258" y="7215202"/>
            <a:ext cx="5786478" cy="3071798"/>
            <a:chOff x="0" y="0"/>
            <a:chExt cx="2137363" cy="13103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37363" cy="1310315"/>
            </a:xfrm>
            <a:custGeom>
              <a:avLst/>
              <a:gdLst/>
              <a:ahLst/>
              <a:cxnLst/>
              <a:rect l="l" t="t" r="r" b="b"/>
              <a:pathLst>
                <a:path w="2137363" h="1310315">
                  <a:moveTo>
                    <a:pt x="0" y="0"/>
                  </a:moveTo>
                  <a:lnTo>
                    <a:pt x="2137363" y="0"/>
                  </a:lnTo>
                  <a:lnTo>
                    <a:pt x="2137363" y="1310315"/>
                  </a:lnTo>
                  <a:lnTo>
                    <a:pt x="0" y="1310315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37363" cy="1348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" name="Group 3"/>
          <p:cNvGrpSpPr/>
          <p:nvPr/>
        </p:nvGrpSpPr>
        <p:grpSpPr>
          <a:xfrm>
            <a:off x="5357786" y="0"/>
            <a:ext cx="11072890" cy="11287168"/>
            <a:chOff x="0" y="0"/>
            <a:chExt cx="2137363" cy="2438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7363" cy="2438400"/>
            </a:xfrm>
            <a:custGeom>
              <a:avLst/>
              <a:gdLst/>
              <a:ahLst/>
              <a:cxnLst/>
              <a:rect l="l" t="t" r="r" b="b"/>
              <a:pathLst>
                <a:path w="2137363" h="2438400">
                  <a:moveTo>
                    <a:pt x="0" y="0"/>
                  </a:moveTo>
                  <a:lnTo>
                    <a:pt x="2137363" y="0"/>
                  </a:lnTo>
                  <a:lnTo>
                    <a:pt x="2137363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0274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37363" cy="247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500002" y="606480"/>
            <a:ext cx="50006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latin typeface="Farabee" pitchFamily="2" charset="0"/>
              </a:rPr>
              <a:t>Задачи проекта</a:t>
            </a:r>
            <a:endParaRPr lang="ru-RU" sz="6600" dirty="0">
              <a:latin typeface="Farabee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14976" y="500030"/>
            <a:ext cx="10072758" cy="94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Проанализировать существующие сайты на их преимущества и недостатки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Определить желаемую отображаемую информацию на сайте (материалы, назначение, уроки и </a:t>
            </a:r>
            <a:r>
              <a:rPr lang="ru-RU" sz="3200" dirty="0" err="1" smtClean="0">
                <a:solidFill>
                  <a:schemeClr val="bg1"/>
                </a:solidFill>
                <a:latin typeface="Farabee Straight" pitchFamily="2" charset="0"/>
              </a:rPr>
              <a:t>тд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)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Определить более востребованные и популярные виды творчества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Собрать информацию для каждого вида творчества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Создать структуру сайта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Создать сайт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Протестировать платформу на наличие недочетов</a:t>
            </a:r>
          </a:p>
          <a:p>
            <a:pPr>
              <a:buFont typeface="Arial" pitchFamily="34" charset="0"/>
              <a:buChar char="•"/>
            </a:pPr>
            <a:endParaRPr lang="ru-RU" sz="3200" dirty="0">
              <a:solidFill>
                <a:schemeClr val="bg1"/>
              </a:solidFill>
              <a:latin typeface="Farabee Straight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3"/>
          <p:cNvGrpSpPr/>
          <p:nvPr/>
        </p:nvGrpSpPr>
        <p:grpSpPr>
          <a:xfrm>
            <a:off x="10501322" y="5929318"/>
            <a:ext cx="9101442" cy="5000660"/>
            <a:chOff x="0" y="0"/>
            <a:chExt cx="2284198" cy="711703"/>
          </a:xfrm>
        </p:grpSpPr>
        <p:sp>
          <p:nvSpPr>
            <p:cNvPr id="27" name="Freeform 4"/>
            <p:cNvSpPr/>
            <p:nvPr/>
          </p:nvSpPr>
          <p:spPr>
            <a:xfrm>
              <a:off x="0" y="0"/>
              <a:ext cx="2284198" cy="711703"/>
            </a:xfrm>
            <a:custGeom>
              <a:avLst/>
              <a:gdLst/>
              <a:ahLst/>
              <a:cxnLst/>
              <a:rect l="l" t="t" r="r" b="b"/>
              <a:pathLst>
                <a:path w="2284198" h="711703">
                  <a:moveTo>
                    <a:pt x="0" y="0"/>
                  </a:moveTo>
                  <a:lnTo>
                    <a:pt x="2284198" y="0"/>
                  </a:lnTo>
                  <a:lnTo>
                    <a:pt x="2284198" y="711703"/>
                  </a:lnTo>
                  <a:lnTo>
                    <a:pt x="0" y="711703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28" name="TextBox 5"/>
            <p:cNvSpPr txBox="1"/>
            <p:nvPr/>
          </p:nvSpPr>
          <p:spPr>
            <a:xfrm>
              <a:off x="0" y="-38100"/>
              <a:ext cx="2284198" cy="749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0" y="-34412"/>
            <a:ext cx="11930082" cy="10321412"/>
            <a:chOff x="0" y="0"/>
            <a:chExt cx="2691720" cy="27183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91720" cy="2718397"/>
            </a:xfrm>
            <a:custGeom>
              <a:avLst/>
              <a:gdLst/>
              <a:ahLst/>
              <a:cxnLst/>
              <a:rect l="l" t="t" r="r" b="b"/>
              <a:pathLst>
                <a:path w="2691720" h="2718397">
                  <a:moveTo>
                    <a:pt x="0" y="0"/>
                  </a:moveTo>
                  <a:lnTo>
                    <a:pt x="2691720" y="0"/>
                  </a:lnTo>
                  <a:lnTo>
                    <a:pt x="2691720" y="2718397"/>
                  </a:lnTo>
                  <a:lnTo>
                    <a:pt x="0" y="2718397"/>
                  </a:lnTo>
                  <a:close/>
                </a:path>
              </a:pathLst>
            </a:custGeom>
            <a:solidFill>
              <a:srgbClr val="00274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91720" cy="27564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928630" y="357154"/>
            <a:ext cx="114300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solidFill>
                  <a:schemeClr val="bg1"/>
                </a:solidFill>
                <a:latin typeface="Farabee" pitchFamily="2" charset="0"/>
              </a:rPr>
              <a:t>Анализ  существующих сайтов</a:t>
            </a:r>
            <a:endParaRPr lang="ru-RU" sz="6600" dirty="0">
              <a:solidFill>
                <a:schemeClr val="bg1"/>
              </a:solidFill>
              <a:latin typeface="Farabee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1506" y="2571732"/>
            <a:ext cx="9358378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В ходе исследования был проведен анализ по 10 критериям:</a:t>
            </a:r>
          </a:p>
          <a:p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Количество представленных хобби ( </a:t>
            </a:r>
            <a:r>
              <a:rPr lang="en-US" sz="3200" dirty="0" smtClean="0">
                <a:solidFill>
                  <a:schemeClr val="bg1"/>
                </a:solidFill>
                <a:latin typeface="Farabee Straight" pitchFamily="2" charset="0"/>
              </a:rPr>
              <a:t>&gt;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10)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Наличие картинки продукта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Описание вида творчества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Описание применения продукта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Список преимуществ для развития человека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Указание средней цены материалов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Наличие обучающих ресурсов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Возрастные рекомендации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Удобство сайта (навигация, выделение информации и т.д.)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Список необходимых материалов </a:t>
            </a:r>
            <a:endParaRPr lang="ru-RU" sz="3200" dirty="0">
              <a:solidFill>
                <a:schemeClr val="bg1"/>
              </a:solidFill>
              <a:latin typeface="Farabee Straight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144396" y="6500822"/>
            <a:ext cx="55721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Farabee" pitchFamily="2" charset="0"/>
              </a:rPr>
              <a:t>В результате анализа ни один из существующих ресурсов не удовлетворял всем критериям</a:t>
            </a:r>
            <a:endParaRPr lang="ru-RU" sz="3600" dirty="0">
              <a:latin typeface="Farabee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186186" y="5143500"/>
            <a:ext cx="7615674" cy="5143500"/>
            <a:chOff x="0" y="0"/>
            <a:chExt cx="1498001" cy="18005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98001" cy="1800579"/>
            </a:xfrm>
            <a:custGeom>
              <a:avLst/>
              <a:gdLst/>
              <a:ahLst/>
              <a:cxnLst/>
              <a:rect l="l" t="t" r="r" b="b"/>
              <a:pathLst>
                <a:path w="1498001" h="1800579">
                  <a:moveTo>
                    <a:pt x="0" y="0"/>
                  </a:moveTo>
                  <a:lnTo>
                    <a:pt x="1498001" y="0"/>
                  </a:lnTo>
                  <a:lnTo>
                    <a:pt x="1498001" y="1800579"/>
                  </a:lnTo>
                  <a:lnTo>
                    <a:pt x="0" y="1800579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98001" cy="1838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3" name="Group 6"/>
          <p:cNvGrpSpPr/>
          <p:nvPr/>
        </p:nvGrpSpPr>
        <p:grpSpPr>
          <a:xfrm>
            <a:off x="5857852" y="0"/>
            <a:ext cx="12787402" cy="10287000"/>
            <a:chOff x="0" y="0"/>
            <a:chExt cx="1606079" cy="2750340"/>
          </a:xfrm>
        </p:grpSpPr>
        <p:sp>
          <p:nvSpPr>
            <p:cNvPr id="24" name="Freeform 7"/>
            <p:cNvSpPr/>
            <p:nvPr/>
          </p:nvSpPr>
          <p:spPr>
            <a:xfrm>
              <a:off x="0" y="0"/>
              <a:ext cx="1606079" cy="2750340"/>
            </a:xfrm>
            <a:custGeom>
              <a:avLst/>
              <a:gdLst/>
              <a:ahLst/>
              <a:cxnLst/>
              <a:rect l="l" t="t" r="r" b="b"/>
              <a:pathLst>
                <a:path w="1606079" h="2750340">
                  <a:moveTo>
                    <a:pt x="0" y="0"/>
                  </a:moveTo>
                  <a:lnTo>
                    <a:pt x="1606079" y="0"/>
                  </a:lnTo>
                  <a:lnTo>
                    <a:pt x="1606079" y="2750340"/>
                  </a:lnTo>
                  <a:lnTo>
                    <a:pt x="0" y="2750340"/>
                  </a:lnTo>
                  <a:close/>
                </a:path>
              </a:pathLst>
            </a:custGeom>
            <a:solidFill>
              <a:srgbClr val="00274D"/>
            </a:solidFill>
          </p:spPr>
        </p:sp>
        <p:sp>
          <p:nvSpPr>
            <p:cNvPr id="25" name="TextBox 8"/>
            <p:cNvSpPr txBox="1"/>
            <p:nvPr/>
          </p:nvSpPr>
          <p:spPr>
            <a:xfrm>
              <a:off x="0" y="-38100"/>
              <a:ext cx="1606079" cy="2788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42878" y="1285848"/>
            <a:ext cx="750099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latin typeface="Farabee" pitchFamily="2" charset="0"/>
              </a:rPr>
              <a:t>Поиск информации</a:t>
            </a:r>
            <a:endParaRPr lang="ru-RU" sz="6600" dirty="0">
              <a:latin typeface="Farabee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43670" y="428592"/>
            <a:ext cx="10930014" cy="94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На основе анализа был определён единый набор данных: </a:t>
            </a:r>
          </a:p>
          <a:p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Описание вида творчества и его применения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Список необходимых материалов, инструментов и цены на них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Средняя цена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Обучающие ресурсы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</a:t>
            </a:r>
            <a:r>
              <a:rPr lang="ru-RU" sz="3200" dirty="0" err="1" smtClean="0">
                <a:solidFill>
                  <a:schemeClr val="bg1"/>
                </a:solidFill>
                <a:latin typeface="Farabee Straight" pitchFamily="2" charset="0"/>
              </a:rPr>
              <a:t>Онлайн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и </a:t>
            </a:r>
            <a:r>
              <a:rPr lang="ru-RU" sz="3200" dirty="0" err="1" smtClean="0">
                <a:solidFill>
                  <a:schemeClr val="bg1"/>
                </a:solidFill>
                <a:latin typeface="Farabee Straight" pitchFamily="2" charset="0"/>
              </a:rPr>
              <a:t>оффлайн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магазины для приобретения необходимых ресурсов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Советы для начинающих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Рекомендации по возрасту</a:t>
            </a:r>
          </a:p>
          <a:p>
            <a:endParaRPr lang="ru-RU" sz="3200" dirty="0">
              <a:solidFill>
                <a:schemeClr val="bg1"/>
              </a:solidFill>
              <a:latin typeface="Farabee Straight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7126" y="6000756"/>
            <a:ext cx="56436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Farabee" pitchFamily="2" charset="0"/>
              </a:rPr>
              <a:t>Определены 15 наиболее популярных направлений и собрана информация в таблицу</a:t>
            </a:r>
            <a:endParaRPr lang="ru-RU" sz="3600" dirty="0">
              <a:latin typeface="Farabee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2930214" y="-928730"/>
            <a:ext cx="6098080" cy="10442699"/>
            <a:chOff x="0" y="0"/>
            <a:chExt cx="1606079" cy="27503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06079" cy="2750340"/>
            </a:xfrm>
            <a:custGeom>
              <a:avLst/>
              <a:gdLst/>
              <a:ahLst/>
              <a:cxnLst/>
              <a:rect l="l" t="t" r="r" b="b"/>
              <a:pathLst>
                <a:path w="1606079" h="2750340">
                  <a:moveTo>
                    <a:pt x="0" y="0"/>
                  </a:moveTo>
                  <a:lnTo>
                    <a:pt x="1606079" y="0"/>
                  </a:lnTo>
                  <a:lnTo>
                    <a:pt x="1606079" y="2750340"/>
                  </a:lnTo>
                  <a:lnTo>
                    <a:pt x="0" y="2750340"/>
                  </a:lnTo>
                  <a:close/>
                </a:path>
              </a:pathLst>
            </a:custGeom>
            <a:solidFill>
              <a:srgbClr val="00274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06079" cy="2788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" name="Group 3"/>
          <p:cNvGrpSpPr/>
          <p:nvPr/>
        </p:nvGrpSpPr>
        <p:grpSpPr>
          <a:xfrm>
            <a:off x="2357390" y="3071798"/>
            <a:ext cx="12573088" cy="5631205"/>
            <a:chOff x="0" y="0"/>
            <a:chExt cx="2284198" cy="7117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4198" cy="711703"/>
            </a:xfrm>
            <a:custGeom>
              <a:avLst/>
              <a:gdLst/>
              <a:ahLst/>
              <a:cxnLst/>
              <a:rect l="l" t="t" r="r" b="b"/>
              <a:pathLst>
                <a:path w="2284198" h="711703">
                  <a:moveTo>
                    <a:pt x="0" y="0"/>
                  </a:moveTo>
                  <a:lnTo>
                    <a:pt x="2284198" y="0"/>
                  </a:lnTo>
                  <a:lnTo>
                    <a:pt x="2284198" y="711703"/>
                  </a:lnTo>
                  <a:lnTo>
                    <a:pt x="0" y="711703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84198" cy="749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142944" y="928658"/>
            <a:ext cx="98584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latin typeface="Farabee" pitchFamily="2" charset="0"/>
              </a:rPr>
              <a:t>Средства реализации</a:t>
            </a:r>
            <a:endParaRPr lang="ru-RU" sz="6600" dirty="0">
              <a:latin typeface="Farabee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28894" y="3929054"/>
            <a:ext cx="84296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6000" dirty="0" smtClean="0">
                <a:latin typeface="Farabee Straight" pitchFamily="2" charset="0"/>
              </a:rPr>
              <a:t> VS code / </a:t>
            </a:r>
            <a:r>
              <a:rPr lang="ru-RU" sz="6000" dirty="0" smtClean="0">
                <a:latin typeface="Farabee Straight" pitchFamily="2" charset="0"/>
              </a:rPr>
              <a:t>блокнот</a:t>
            </a:r>
            <a:endParaRPr lang="en-US" sz="6000" dirty="0" smtClean="0">
              <a:latin typeface="Farabee Straight" pitchFamily="2" charset="0"/>
            </a:endParaRPr>
          </a:p>
          <a:p>
            <a:endParaRPr lang="ru-RU" sz="6000" dirty="0" smtClean="0">
              <a:latin typeface="Farabee Straight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6000" dirty="0" smtClean="0">
                <a:latin typeface="Farabee Straight" pitchFamily="2" charset="0"/>
              </a:rPr>
              <a:t> HTML/CSS</a:t>
            </a:r>
          </a:p>
          <a:p>
            <a:pPr>
              <a:buFont typeface="Wingdings" pitchFamily="2" charset="2"/>
              <a:buChar char="Ø"/>
            </a:pPr>
            <a:endParaRPr lang="en-US" sz="6000" dirty="0" smtClean="0">
              <a:latin typeface="Farabee Straight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28692" y="0"/>
            <a:ext cx="9215438" cy="10399223"/>
            <a:chOff x="0" y="0"/>
            <a:chExt cx="2087897" cy="2738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87897" cy="2738890"/>
            </a:xfrm>
            <a:custGeom>
              <a:avLst/>
              <a:gdLst/>
              <a:ahLst/>
              <a:cxnLst/>
              <a:rect l="l" t="t" r="r" b="b"/>
              <a:pathLst>
                <a:path w="2087897" h="2738890">
                  <a:moveTo>
                    <a:pt x="0" y="0"/>
                  </a:moveTo>
                  <a:lnTo>
                    <a:pt x="2087897" y="0"/>
                  </a:lnTo>
                  <a:lnTo>
                    <a:pt x="2087897" y="2738890"/>
                  </a:lnTo>
                  <a:lnTo>
                    <a:pt x="0" y="2738890"/>
                  </a:lnTo>
                  <a:close/>
                </a:path>
              </a:pathLst>
            </a:custGeom>
            <a:solidFill>
              <a:srgbClr val="00274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87897" cy="2776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15372" y="412004"/>
            <a:ext cx="7429488" cy="4088518"/>
            <a:chOff x="0" y="-38100"/>
            <a:chExt cx="1859895" cy="976851"/>
          </a:xfrm>
        </p:grpSpPr>
        <p:sp>
          <p:nvSpPr>
            <p:cNvPr id="7" name="Freeform 7"/>
            <p:cNvSpPr/>
            <p:nvPr/>
          </p:nvSpPr>
          <p:spPr>
            <a:xfrm>
              <a:off x="17884" y="0"/>
              <a:ext cx="1842011" cy="938751"/>
            </a:xfrm>
            <a:custGeom>
              <a:avLst/>
              <a:gdLst/>
              <a:ahLst/>
              <a:cxnLst/>
              <a:rect l="l" t="t" r="r" b="b"/>
              <a:pathLst>
                <a:path w="1859895" h="938751">
                  <a:moveTo>
                    <a:pt x="0" y="0"/>
                  </a:moveTo>
                  <a:lnTo>
                    <a:pt x="1859895" y="0"/>
                  </a:lnTo>
                  <a:lnTo>
                    <a:pt x="1859895" y="938751"/>
                  </a:lnTo>
                  <a:lnTo>
                    <a:pt x="0" y="938751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859895" cy="976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57126" y="500030"/>
            <a:ext cx="80010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solidFill>
                  <a:schemeClr val="bg1"/>
                </a:solidFill>
                <a:latin typeface="Farabee" pitchFamily="2" charset="0"/>
              </a:rPr>
              <a:t>Главная страница</a:t>
            </a:r>
            <a:endParaRPr lang="ru-RU" sz="6600" dirty="0">
              <a:solidFill>
                <a:schemeClr val="bg1"/>
              </a:solidFill>
              <a:latin typeface="Farabee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26" y="1714476"/>
            <a:ext cx="7983541" cy="8023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00028" y="3857616"/>
            <a:ext cx="9587972" cy="589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TextBox 22"/>
          <p:cNvSpPr txBox="1"/>
          <p:nvPr/>
        </p:nvSpPr>
        <p:spPr>
          <a:xfrm>
            <a:off x="9072562" y="1142972"/>
            <a:ext cx="63579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latin typeface="Farabee" pitchFamily="2" charset="0"/>
              </a:rPr>
              <a:t>Пример кода:</a:t>
            </a:r>
            <a:endParaRPr lang="ru-RU" sz="6600" dirty="0">
              <a:latin typeface="Farabee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9072562" cy="10329297"/>
            <a:chOff x="0" y="0"/>
            <a:chExt cx="1713044" cy="27204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13044" cy="2720473"/>
            </a:xfrm>
            <a:custGeom>
              <a:avLst/>
              <a:gdLst/>
              <a:ahLst/>
              <a:cxnLst/>
              <a:rect l="l" t="t" r="r" b="b"/>
              <a:pathLst>
                <a:path w="1713044" h="2720473">
                  <a:moveTo>
                    <a:pt x="0" y="0"/>
                  </a:moveTo>
                  <a:lnTo>
                    <a:pt x="1713044" y="0"/>
                  </a:lnTo>
                  <a:lnTo>
                    <a:pt x="1713044" y="2720473"/>
                  </a:lnTo>
                  <a:lnTo>
                    <a:pt x="0" y="2720473"/>
                  </a:lnTo>
                  <a:close/>
                </a:path>
              </a:pathLst>
            </a:custGeom>
            <a:solidFill>
              <a:srgbClr val="00274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13044" cy="2758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358446" y="0"/>
            <a:ext cx="8786810" cy="5000623"/>
            <a:chOff x="0" y="0"/>
            <a:chExt cx="3103548" cy="870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03548" cy="870793"/>
            </a:xfrm>
            <a:custGeom>
              <a:avLst/>
              <a:gdLst/>
              <a:ahLst/>
              <a:cxnLst/>
              <a:rect l="l" t="t" r="r" b="b"/>
              <a:pathLst>
                <a:path w="3103548" h="870793">
                  <a:moveTo>
                    <a:pt x="0" y="0"/>
                  </a:moveTo>
                  <a:lnTo>
                    <a:pt x="3103548" y="0"/>
                  </a:lnTo>
                  <a:lnTo>
                    <a:pt x="3103548" y="870793"/>
                  </a:lnTo>
                  <a:lnTo>
                    <a:pt x="0" y="870793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103548" cy="908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500002" y="428592"/>
            <a:ext cx="82153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solidFill>
                  <a:schemeClr val="bg1"/>
                </a:solidFill>
                <a:latin typeface="Farabee" pitchFamily="2" charset="0"/>
              </a:rPr>
              <a:t>Пример страницы с хобби</a:t>
            </a:r>
            <a:r>
              <a:rPr lang="en-US" sz="6600" dirty="0" smtClean="0">
                <a:solidFill>
                  <a:schemeClr val="bg1"/>
                </a:solidFill>
                <a:latin typeface="Farabee" pitchFamily="2" charset="0"/>
              </a:rPr>
              <a:t> </a:t>
            </a:r>
            <a:r>
              <a:rPr lang="ru-RU" sz="6600" dirty="0" smtClean="0">
                <a:solidFill>
                  <a:schemeClr val="bg1"/>
                </a:solidFill>
                <a:latin typeface="Farabee" pitchFamily="2" charset="0"/>
              </a:rPr>
              <a:t>и пример кода</a:t>
            </a:r>
            <a:endParaRPr lang="ru-RU" sz="6600" dirty="0">
              <a:solidFill>
                <a:schemeClr val="bg1"/>
              </a:solidFill>
              <a:latin typeface="Farabee" pitchFamily="2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 r="1538"/>
          <a:stretch>
            <a:fillRect/>
          </a:stretch>
        </p:blipFill>
        <p:spPr bwMode="auto">
          <a:xfrm>
            <a:off x="0" y="3638635"/>
            <a:ext cx="9144000" cy="6648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" name="Рисунок 23" descr="_C__Users_Komp_OneDrive_%D0%A0%D0%B0%D0%B1%D0%BE%D1%87%D0%B8%D0%B9%20%D1%81%D1%82%D0%BE%D0%BB_%D0%B8%D0%BF_vyshivka.html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9644066" y="0"/>
            <a:ext cx="7072362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444" b="-84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00068" y="571468"/>
            <a:ext cx="16215875" cy="2143140"/>
            <a:chOff x="0" y="0"/>
            <a:chExt cx="4270848" cy="14975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0848" cy="1497531"/>
            </a:xfrm>
            <a:custGeom>
              <a:avLst/>
              <a:gdLst/>
              <a:ahLst/>
              <a:cxnLst/>
              <a:rect l="l" t="t" r="r" b="b"/>
              <a:pathLst>
                <a:path w="4270848" h="1497531">
                  <a:moveTo>
                    <a:pt x="0" y="0"/>
                  </a:moveTo>
                  <a:lnTo>
                    <a:pt x="4270848" y="0"/>
                  </a:lnTo>
                  <a:lnTo>
                    <a:pt x="4270848" y="1497531"/>
                  </a:lnTo>
                  <a:lnTo>
                    <a:pt x="0" y="14975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0848" cy="1535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28630" y="-142912"/>
            <a:ext cx="16201150" cy="2676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596"/>
              </a:lnSpc>
              <a:spcBef>
                <a:spcPct val="0"/>
              </a:spcBef>
            </a:pPr>
            <a:r>
              <a:rPr lang="ru-RU" sz="10000" b="1" dirty="0" smtClean="0">
                <a:solidFill>
                  <a:srgbClr val="00274D"/>
                </a:solidFill>
                <a:latin typeface="Farabee" pitchFamily="2" charset="0"/>
                <a:ea typeface="Georgia Pro Bold"/>
                <a:cs typeface="Georgia Pro Bold"/>
                <a:sym typeface="Georgia Pro Bold"/>
              </a:rPr>
              <a:t>СПАСИБО ЗА ВНИМАНИЕ</a:t>
            </a:r>
            <a:endParaRPr lang="en-US" sz="10000" b="1" dirty="0">
              <a:solidFill>
                <a:srgbClr val="00274D"/>
              </a:solidFill>
              <a:latin typeface="Farabee" pitchFamily="2" charset="0"/>
              <a:ea typeface="Georgia Pro Bold"/>
              <a:cs typeface="Georgia Pro Bold"/>
              <a:sym typeface="Georgia Pro Bold"/>
            </a:endParaRPr>
          </a:p>
        </p:txBody>
      </p:sp>
      <p:pic>
        <p:nvPicPr>
          <p:cNvPr id="21" name="Рисунок 20" descr="Муся, это ты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38" y="3143236"/>
            <a:ext cx="6858048" cy="62151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290</Words>
  <Application>Microsoft Office PowerPoint</Application>
  <PresentationFormat>Произвольный</PresentationFormat>
  <Paragraphs>63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Arial</vt:lpstr>
      <vt:lpstr>Calibri</vt:lpstr>
      <vt:lpstr>Farabee</vt:lpstr>
      <vt:lpstr>Georgia Pro Bold</vt:lpstr>
      <vt:lpstr>Times New Roman</vt:lpstr>
      <vt:lpstr>Farabee Straight</vt:lpstr>
      <vt:lpstr>Wingdings</vt:lpstr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Yellow Modern Minimalist University Education Presentation</dc:title>
  <dc:creator>Komp</dc:creator>
  <cp:lastModifiedBy>Komp</cp:lastModifiedBy>
  <cp:revision>30</cp:revision>
  <dcterms:created xsi:type="dcterms:W3CDTF">2006-08-16T00:00:00Z</dcterms:created>
  <dcterms:modified xsi:type="dcterms:W3CDTF">2026-06-05T05:37:24Z</dcterms:modified>
  <dc:identifier>DAHLFxnuiCE</dc:identifier>
</cp:coreProperties>
</file>